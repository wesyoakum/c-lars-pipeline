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C-LARS PMS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Model Restructure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Management System — April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Hierarchy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5303520" cy="3749040"/>
          </a:xfrm>
          <a:prstGeom prst="rect">
            <a:avLst/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3444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├── Opportunity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├── Quotes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│     ├── Line Items → Items Library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│     │     ├── Price Builds → Builds Library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│     │     │     ├── DM Selections → DM Library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│     │     │     └── DL Selections → DL Library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│     │     └── Documents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│     ├── Documents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│     └── Jobs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├── Activities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│     └── Documents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├── External Artifacts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└── Documents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├── Contact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│     └── Documents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└── Documents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700784"/>
            <a:ext cx="201168" cy="201168"/>
          </a:xfrm>
          <a:prstGeom prst="rect">
            <a:avLst/>
          </a:prstGeom>
          <a:solidFill>
            <a:srgbClr val="CADC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645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entity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2048256"/>
            <a:ext cx="201168" cy="201168"/>
          </a:xfrm>
          <a:prstGeom prst="rect">
            <a:avLst/>
          </a:prstGeom>
          <a:solidFill>
            <a:srgbClr val="3B82F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9933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children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2395728"/>
            <a:ext cx="201168" cy="201168"/>
          </a:xfrm>
          <a:prstGeom prst="rect">
            <a:avLst/>
          </a:prstGeom>
          <a:solidFill>
            <a:srgbClr val="10B98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3408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(key change)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743200"/>
            <a:ext cx="201168" cy="201168"/>
          </a:xfrm>
          <a:prstGeom prst="rect">
            <a:avLst/>
          </a:prstGeom>
          <a:solidFill>
            <a:srgbClr val="F59E0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6883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(moved)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090672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0358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children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3438144"/>
            <a:ext cx="201168" cy="201168"/>
          </a:xfrm>
          <a:prstGeom prst="rect">
            <a:avLst/>
          </a:prstGeom>
          <a:solidFill>
            <a:srgbClr val="94A3B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3832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/ attachments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3867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arrows indicate shared library links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Builds move to Line Item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quote line item gets its own price build instead of one per opportunity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Items Library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catalog of products/services with default pricing — quote lines pick from 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7744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Builds Library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price build templates that can be pulled into any line item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3774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move under Quotes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is the execution of a won quote, not the opportunity itself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attach at every level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document attachment — quotes, lines, activities, contacts, accounts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657600"/>
            <a:ext cx="54864" cy="109728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Quote-level cost build link removed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single cost_build_id on the quote — pricing lives at the line level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Libraries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catalogs that feed into quotes and price builds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1993392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463040"/>
            <a:ext cx="199339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17373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Library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 you sell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price, description, unit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lines reference these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1463040"/>
            <a:ext cx="1993392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1463040"/>
            <a:ext cx="1993392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3218688" y="17373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218688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87752" y="24688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Library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87752" y="283464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pricing templates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33472" y="33832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Pre-configured price builds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into any line item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72584" y="1463040"/>
            <a:ext cx="1993392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72584" y="1463040"/>
            <a:ext cx="199339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4960" y="17373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64024" y="24688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Library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64024" y="283464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material cost items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9744" y="33832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costs with suppliers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within price builds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48856" y="1463040"/>
            <a:ext cx="1993392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48856" y="1463040"/>
            <a:ext cx="199339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7571232" y="17373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7571232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40296" y="24688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Library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0296" y="283464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labor cost items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86016" y="338328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rates and hours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within price builds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 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code changes required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cost_builds → price_builds under quote_lines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1481328"/>
            <a:ext cx="914400" cy="3108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0" y="148132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029968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29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9842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items_library and builds_library tables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2048256"/>
            <a:ext cx="914400" cy="3108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204825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596896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55117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dm_library and dl_library tables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0" y="2615184"/>
            <a:ext cx="914400" cy="3108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261518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163824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1181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jobs FK from opportunity_id to quote_id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98080" y="3182112"/>
            <a:ext cx="914400" cy="3108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318211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730752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30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36850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quote-level cost_build_id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98080" y="3749040"/>
            <a:ext cx="914400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374904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97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251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route handlers and UI for new relationships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98080" y="4315968"/>
            <a:ext cx="914400" cy="31089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431596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475488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760DF023777448BB1F36641C397A8A" ma:contentTypeVersion="17" ma:contentTypeDescription="Create a new document." ma:contentTypeScope="" ma:versionID="e10b1a2ee20ea4e4b52dee1963dd5a4d">
  <xsd:schema xmlns:xsd="http://www.w3.org/2001/XMLSchema" xmlns:xs="http://www.w3.org/2001/XMLSchema" xmlns:p="http://schemas.microsoft.com/office/2006/metadata/properties" xmlns:ns2="9ecdefc2-fa72-43fe-8a70-d65c594d1b63" xmlns:ns3="0a4e9f82-07ce-422a-b101-4e0e4064cd64" targetNamespace="http://schemas.microsoft.com/office/2006/metadata/properties" ma:root="true" ma:fieldsID="2602190deabdbb59cc1bbff7cb2a0e51" ns2:_="" ns3:_="">
    <xsd:import namespace="9ecdefc2-fa72-43fe-8a70-d65c594d1b63"/>
    <xsd:import namespace="0a4e9f82-07ce-422a-b101-4e0e4064cd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defc2-fa72-43fe-8a70-d65c594d1b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c948f13a-aec3-4fff-8b21-f463ecb2065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4e9f82-07ce-422a-b101-4e0e4064cd6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1366a4ed-68ba-4bf5-b6a2-1b4c06b66865}" ma:internalName="TaxCatchAll" ma:showField="CatchAllData" ma:web="0a4e9f82-07ce-422a-b101-4e0e4064cd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4e9f82-07ce-422a-b101-4e0e4064cd64" xsi:nil="true"/>
    <lcf76f155ced4ddcb4097134ff3c332f xmlns="9ecdefc2-fa72-43fe-8a70-d65c594d1b6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462C76-1A7C-4D1B-A740-7A445D779CAD}"/>
</file>

<file path=customXml/itemProps2.xml><?xml version="1.0" encoding="utf-8"?>
<ds:datastoreItem xmlns:ds="http://schemas.openxmlformats.org/officeDocument/2006/customXml" ds:itemID="{59B60C52-F178-47AE-A2EE-03EEA2EF23E2}"/>
</file>

<file path=customXml/itemProps3.xml><?xml version="1.0" encoding="utf-8"?>
<ds:datastoreItem xmlns:ds="http://schemas.openxmlformats.org/officeDocument/2006/customXml" ds:itemID="{9DD6316F-31E4-450D-8EC6-57CDF21F35E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C-LARS PMS — Object Model Restructure</dc:title>
  <dc:subject>PptxGenJS Presentation</dc:subject>
  <dc:creator>C-LARS</dc:creator>
  <cp:lastModifiedBy>C-LARS</cp:lastModifiedBy>
  <cp:revision>1</cp:revision>
  <dcterms:created xsi:type="dcterms:W3CDTF">2026-04-13T05:29:31Z</dcterms:created>
  <dcterms:modified xsi:type="dcterms:W3CDTF">2026-04-13T05:29:31Z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0x010100BF760DF023777448BB1F36641C397A8A</vt:lpwstr>
  </property>
</Properties>
</file>